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0B981"/>
                </a:solidFill>
                <a:latin typeface="Calibri"/>
              </a:defRPr>
            </a:pPr>
            <a:r>
              <a:t>Tree Digital Insurance (UAT)</a:t>
            </a:r>
          </a:p>
          <a:p>
            <a:pPr>
              <a:spcBef>
                <a:spcPts val="1000"/>
              </a:spcBef>
              <a:defRPr sz="3600" b="1">
                <a:solidFill>
                  <a:srgbClr val="F8FAFC"/>
                </a:solidFill>
                <a:latin typeface="Calibri"/>
              </a:defRPr>
            </a:pPr>
            <a:r>
              <a:t>Enterprise Mobile Appium Automation Framework</a:t>
            </a:r>
          </a:p>
          <a:p>
            <a:pPr>
              <a:spcBef>
                <a:spcPts val="1500"/>
              </a:spcBef>
              <a:defRPr sz="1600">
                <a:solidFill>
                  <a:srgbClr val="38BDF8"/>
                </a:solidFill>
                <a:latin typeface="Calibri"/>
              </a:defRPr>
            </a:pPr>
            <a:r>
              <a:t>Self-Healing Architecture • High-Performance Data Structures • CI/CD Integration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B981"/>
                </a:solidFill>
                <a:latin typeface="Calibri"/>
              </a:defRPr>
            </a:pPr>
            <a:r>
              <a:t>Executive Summary &amp; Key Highlights</a:t>
            </a:r>
          </a:p>
          <a:p>
            <a:pPr>
              <a:defRPr sz="1400">
                <a:solidFill>
                  <a:srgbClr val="94A3B8"/>
                </a:solidFill>
                <a:latin typeface="Calibri"/>
              </a:defRPr>
            </a:pPr>
            <a:r>
              <a:t>Overview of test automation capability and core framework features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/>
          <a:lstStyle/>
          <a:p>
            <a:pPr algn="ctr">
              <a:defRPr sz="1800" b="1">
                <a:solidFill>
                  <a:srgbClr val="38BDF8"/>
                </a:solidFill>
                <a:latin typeface="Calibri"/>
              </a:defRPr>
            </a:pPr>
            <a:r>
              <a:t>🎯 100% E2E Coverage</a:t>
            </a:r>
          </a:p>
          <a:p>
            <a:pPr>
              <a:spcBef>
                <a:spcPts val="600"/>
              </a:spcBef>
              <a:defRPr sz="1400">
                <a:solidFill>
                  <a:srgbClr val="F8FAFC"/>
                </a:solidFill>
                <a:latin typeface="Calibri"/>
              </a:defRPr>
            </a:pPr>
            <a:r>
              <a:t>• Automates 17 complete scenarios across 4 core business purchasing flows.</a:t>
            </a:r>
          </a:p>
          <a:p>
            <a:pPr>
              <a:spcBef>
                <a:spcPts val="600"/>
              </a:spcBef>
              <a:defRPr sz="1400">
                <a:solidFill>
                  <a:srgbClr val="F8FAFC"/>
                </a:solidFill>
                <a:latin typeface="Calibri"/>
              </a:defRPr>
            </a:pPr>
            <a:r>
              <a:t>• Validates New Insurance &amp; Ownership Transfer journeys.</a:t>
            </a:r>
          </a:p>
          <a:p>
            <a:pPr>
              <a:spcBef>
                <a:spcPts val="600"/>
              </a:spcBef>
              <a:defRPr sz="1400">
                <a:solidFill>
                  <a:srgbClr val="F8FAFC"/>
                </a:solidFill>
                <a:latin typeface="Calibri"/>
              </a:defRPr>
            </a:pPr>
            <a:r>
              <a:t>• Includes Comprehensive, Smart, and Saver policy covers.</a:t>
            </a:r>
          </a:p>
          <a:p>
            <a:pPr>
              <a:spcBef>
                <a:spcPts val="600"/>
              </a:spcBef>
              <a:defRPr sz="1400">
                <a:solidFill>
                  <a:srgbClr val="F8FAFC"/>
                </a:solidFill>
                <a:latin typeface="Calibri"/>
              </a:defRPr>
            </a:pPr>
            <a:r>
              <a:t>• Full coverage from Quote to Policy Confirmation.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/>
          <a:lstStyle/>
          <a:p>
            <a:pPr algn="ctr">
              <a:defRPr sz="1800" b="1">
                <a:solidFill>
                  <a:srgbClr val="38BDF8"/>
                </a:solidFill>
                <a:latin typeface="Calibri"/>
              </a:defRPr>
            </a:pPr>
            <a:r>
              <a:t>🛡️ Self-Healing Engine</a:t>
            </a:r>
          </a:p>
          <a:p>
            <a:pPr>
              <a:spcBef>
                <a:spcPts val="600"/>
              </a:spcBef>
              <a:defRPr sz="1400">
                <a:solidFill>
                  <a:srgbClr val="F8FAFC"/>
                </a:solidFill>
                <a:latin typeface="Calibri"/>
              </a:defRPr>
            </a:pPr>
            <a:r>
              <a:t>• Intercepts unexpected system permission popups automatically.</a:t>
            </a:r>
          </a:p>
          <a:p>
            <a:pPr>
              <a:spcBef>
                <a:spcPts val="600"/>
              </a:spcBef>
              <a:defRPr sz="1400">
                <a:solidFill>
                  <a:srgbClr val="F8FAFC"/>
                </a:solidFill>
                <a:latin typeface="Calibri"/>
              </a:defRPr>
            </a:pPr>
            <a:r>
              <a:t>• Auto-dismisses upsell banners, promo dialogs, 'Skip', and 'Close' buttons.</a:t>
            </a:r>
          </a:p>
          <a:p>
            <a:pPr>
              <a:spcBef>
                <a:spcPts val="600"/>
              </a:spcBef>
              <a:defRPr sz="1400">
                <a:solidFill>
                  <a:srgbClr val="F8FAFC"/>
                </a:solidFill>
                <a:latin typeface="Calibri"/>
              </a:defRPr>
            </a:pPr>
            <a:r>
              <a:t>• Eliminates test crashes caused by dynamic UI re-renders.</a:t>
            </a:r>
          </a:p>
          <a:p>
            <a:pPr>
              <a:spcBef>
                <a:spcPts val="600"/>
              </a:spcBef>
              <a:defRPr sz="1400">
                <a:solidFill>
                  <a:srgbClr val="F8FAFC"/>
                </a:solidFill>
                <a:latin typeface="Calibri"/>
              </a:defRPr>
            </a:pPr>
            <a:r>
              <a:t>• Automatic tap fallback if primary Selenium click fails.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/>
          <a:lstStyle/>
          <a:p>
            <a:pPr algn="ctr">
              <a:defRPr sz="1800" b="1">
                <a:solidFill>
                  <a:srgbClr val="38BDF8"/>
                </a:solidFill>
                <a:latin typeface="Calibri"/>
              </a:defRPr>
            </a:pPr>
            <a:r>
              <a:t>⚡ Advanced Architecture</a:t>
            </a:r>
          </a:p>
          <a:p>
            <a:pPr>
              <a:spcBef>
                <a:spcPts val="600"/>
              </a:spcBef>
              <a:defRPr sz="1400">
                <a:solidFill>
                  <a:srgbClr val="F8FAFC"/>
                </a:solidFill>
                <a:latin typeface="Calibri"/>
              </a:defRPr>
            </a:pPr>
            <a:r>
              <a:t>• High-performance Java data structures (ConcurrentHashMap, ArrayDeque).</a:t>
            </a:r>
          </a:p>
          <a:p>
            <a:pPr>
              <a:spcBef>
                <a:spcPts val="600"/>
              </a:spcBef>
              <a:defRPr sz="1400">
                <a:solidFill>
                  <a:srgbClr val="F8FAFC"/>
                </a:solidFill>
                <a:latin typeface="Calibri"/>
              </a:defRPr>
            </a:pPr>
            <a:r>
              <a:t>• ThreadLocal driver isolation for zero-lock parallel execution.</a:t>
            </a:r>
          </a:p>
          <a:p>
            <a:pPr>
              <a:spcBef>
                <a:spcPts val="600"/>
              </a:spcBef>
              <a:defRPr sz="1400">
                <a:solidFill>
                  <a:srgbClr val="F8FAFC"/>
                </a:solidFill>
                <a:latin typeface="Calibri"/>
              </a:defRPr>
            </a:pPr>
            <a:r>
              <a:t>• Timestamp-based zero-duplicate algorithm for National IDs.</a:t>
            </a:r>
          </a:p>
          <a:p>
            <a:pPr>
              <a:spcBef>
                <a:spcPts val="600"/>
              </a:spcBef>
              <a:defRPr sz="1400">
                <a:solidFill>
                  <a:srgbClr val="F8FAFC"/>
                </a:solidFill>
                <a:latin typeface="Calibri"/>
              </a:defRPr>
            </a:pPr>
            <a:r>
              <a:t>• Centralized testdata.properties for zero-recompile config.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B981"/>
                </a:solidFill>
                <a:latin typeface="Calibri"/>
              </a:defRPr>
            </a:pPr>
            <a:r>
              <a:t>Deep Dive: Data Structures Implemented</a:t>
            </a:r>
          </a:p>
          <a:p>
            <a:pPr>
              <a:defRPr sz="1400">
                <a:solidFill>
                  <a:srgbClr val="94A3B8"/>
                </a:solidFill>
                <a:latin typeface="Calibri"/>
              </a:defRPr>
            </a:pPr>
            <a:r>
              <a:t>Why we chose specific Java data structures to maximize execution speed &amp; stability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21945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/>
          <a:lstStyle/>
          <a:p>
            <a:pPr algn="ctr">
              <a:defRPr sz="1800" b="1">
                <a:solidFill>
                  <a:srgbClr val="38BDF8"/>
                </a:solidFill>
                <a:latin typeface="Calibri"/>
              </a:defRPr>
            </a:pPr>
            <a:r>
              <a:t>1. ConcurrentHashMap&lt;String, By&gt;</a:t>
            </a:r>
          </a:p>
          <a:p>
            <a:pPr>
              <a:spcBef>
                <a:spcPts val="600"/>
              </a:spcBef>
              <a:defRPr sz="1400">
                <a:solidFill>
                  <a:srgbClr val="F8FAFC"/>
                </a:solidFill>
                <a:latin typeface="Calibri"/>
              </a:defRPr>
            </a:pPr>
            <a:r>
              <a:t>• Where: BasePage.java (LOCATOR_CACHE)</a:t>
            </a:r>
          </a:p>
          <a:p>
            <a:pPr>
              <a:spcBef>
                <a:spcPts val="600"/>
              </a:spcBef>
              <a:defRPr sz="1400">
                <a:solidFill>
                  <a:srgbClr val="F8FAFC"/>
                </a:solidFill>
                <a:latin typeface="Calibri"/>
              </a:defRPr>
            </a:pPr>
            <a:r>
              <a:t>• Rationale: Pre-compiles Selenium By locators in a thread-safe cache.</a:t>
            </a:r>
          </a:p>
          <a:p>
            <a:pPr>
              <a:spcBef>
                <a:spcPts val="600"/>
              </a:spcBef>
              <a:defRPr sz="1400">
                <a:solidFill>
                  <a:srgbClr val="F8FAFC"/>
                </a:solidFill>
                <a:latin typeface="Calibri"/>
              </a:defRPr>
            </a:pPr>
            <a:r>
              <a:t>• Impact: Delivers O(1) constant-time element lookup &amp; eliminates XPath parsing churn.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120640" cy="21945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/>
          <a:lstStyle/>
          <a:p>
            <a:pPr algn="ctr">
              <a:defRPr sz="1800" b="1">
                <a:solidFill>
                  <a:srgbClr val="38BDF8"/>
                </a:solidFill>
                <a:latin typeface="Calibri"/>
              </a:defRPr>
            </a:pPr>
            <a:r>
              <a:t>2. ArrayDeque&lt;By&gt;</a:t>
            </a:r>
          </a:p>
          <a:p>
            <a:pPr>
              <a:spcBef>
                <a:spcPts val="600"/>
              </a:spcBef>
              <a:defRPr sz="1400">
                <a:solidFill>
                  <a:srgbClr val="F8FAFC"/>
                </a:solidFill>
                <a:latin typeface="Calibri"/>
              </a:defRPr>
            </a:pPr>
            <a:r>
              <a:t>• Where: BasePage.java (POPUP_QUEUE)</a:t>
            </a:r>
          </a:p>
          <a:p>
            <a:pPr>
              <a:spcBef>
                <a:spcPts val="600"/>
              </a:spcBef>
              <a:defRPr sz="1400">
                <a:solidFill>
                  <a:srgbClr val="F8FAFC"/>
                </a:solidFill>
                <a:latin typeface="Calibri"/>
              </a:defRPr>
            </a:pPr>
            <a:r>
              <a:t>• Rationale: Double-ended queue storing popups &amp; system permission locators.</a:t>
            </a:r>
          </a:p>
          <a:p>
            <a:pPr>
              <a:spcBef>
                <a:spcPts val="600"/>
              </a:spcBef>
              <a:defRPr sz="1400">
                <a:solidFill>
                  <a:srgbClr val="F8FAFC"/>
                </a:solidFill>
                <a:latin typeface="Calibri"/>
              </a:defRPr>
            </a:pPr>
            <a:r>
              <a:t>• Impact: High-speed O(1) queue iteration for instant popup auto-dismissal.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114800"/>
            <a:ext cx="5120640" cy="21945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/>
          <a:lstStyle/>
          <a:p>
            <a:pPr algn="ctr">
              <a:defRPr sz="1800" b="1">
                <a:solidFill>
                  <a:srgbClr val="38BDF8"/>
                </a:solidFill>
                <a:latin typeface="Calibri"/>
              </a:defRPr>
            </a:pPr>
            <a:r>
              <a:t>3. ThreadLocal&lt;AppiumDriver&gt;</a:t>
            </a:r>
          </a:p>
          <a:p>
            <a:pPr>
              <a:spcBef>
                <a:spcPts val="600"/>
              </a:spcBef>
              <a:defRPr sz="1400">
                <a:solidFill>
                  <a:srgbClr val="F8FAFC"/>
                </a:solidFill>
                <a:latin typeface="Calibri"/>
              </a:defRPr>
            </a:pPr>
            <a:r>
              <a:t>• Where: DriverManager.java &amp; TestListener.java</a:t>
            </a:r>
          </a:p>
          <a:p>
            <a:pPr>
              <a:spcBef>
                <a:spcPts val="600"/>
              </a:spcBef>
              <a:defRPr sz="1400">
                <a:solidFill>
                  <a:srgbClr val="F8FAFC"/>
                </a:solidFill>
                <a:latin typeface="Calibri"/>
              </a:defRPr>
            </a:pPr>
            <a:r>
              <a:t>• Rationale: Wraps driver &amp; extent report instances per thread.</a:t>
            </a:r>
          </a:p>
          <a:p>
            <a:pPr>
              <a:spcBef>
                <a:spcPts val="600"/>
              </a:spcBef>
              <a:defRPr sz="1400">
                <a:solidFill>
                  <a:srgbClr val="F8FAFC"/>
                </a:solidFill>
                <a:latin typeface="Calibri"/>
              </a:defRPr>
            </a:pPr>
            <a:r>
              <a:t>• Impact: Guarantees zero race conditions during parallel test execution.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4114800"/>
            <a:ext cx="5120640" cy="21945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/>
          <a:lstStyle/>
          <a:p>
            <a:pPr algn="ctr">
              <a:defRPr sz="1800" b="1">
                <a:solidFill>
                  <a:srgbClr val="38BDF8"/>
                </a:solidFill>
                <a:latin typeface="Calibri"/>
              </a:defRPr>
            </a:pPr>
            <a:r>
              <a:t>4. Strongly-Typed Enums &amp; Properties</a:t>
            </a:r>
          </a:p>
          <a:p>
            <a:pPr>
              <a:spcBef>
                <a:spcPts val="600"/>
              </a:spcBef>
              <a:defRPr sz="1400">
                <a:solidFill>
                  <a:srgbClr val="F8FAFC"/>
                </a:solidFill>
                <a:latin typeface="Calibri"/>
              </a:defRPr>
            </a:pPr>
            <a:r>
              <a:t>• Where: CoverType.java, InsuranceFlow.java &amp; TestConfig.java</a:t>
            </a:r>
          </a:p>
          <a:p>
            <a:pPr>
              <a:spcBef>
                <a:spcPts val="600"/>
              </a:spcBef>
              <a:defRPr sz="1400">
                <a:solidFill>
                  <a:srgbClr val="F8FAFC"/>
                </a:solidFill>
                <a:latin typeface="Calibri"/>
              </a:defRPr>
            </a:pPr>
            <a:r>
              <a:t>• Rationale: Type-safe policy options &amp; key-value configuration backing.</a:t>
            </a:r>
          </a:p>
          <a:p>
            <a:pPr>
              <a:spcBef>
                <a:spcPts val="600"/>
              </a:spcBef>
              <a:defRPr sz="1400">
                <a:solidFill>
                  <a:srgbClr val="F8FAFC"/>
                </a:solidFill>
                <a:latin typeface="Calibri"/>
              </a:defRPr>
            </a:pPr>
            <a:r>
              <a:t>• Impact: O(1) memory index lookups &amp; zero-recompile test data editing.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B981"/>
                </a:solidFill>
                <a:latin typeface="Calibri"/>
              </a:defRPr>
            </a:pPr>
            <a:r>
              <a:t>Key Framework Algorithms &amp; Innovations</a:t>
            </a:r>
          </a:p>
          <a:p>
            <a:pPr>
              <a:defRPr sz="1400">
                <a:solidFill>
                  <a:srgbClr val="94A3B8"/>
                </a:solidFill>
                <a:latin typeface="Calibri"/>
              </a:defRPr>
            </a:pPr>
            <a:r>
              <a:t>Algorithmic solutions for backend API compatibility &amp; test stability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/>
          <a:lstStyle/>
          <a:p>
            <a:pPr algn="ctr">
              <a:defRPr sz="1800" b="1">
                <a:solidFill>
                  <a:srgbClr val="38BDF8"/>
                </a:solidFill>
                <a:latin typeface="Calibri"/>
              </a:defRPr>
            </a:pPr>
            <a:r>
              <a:t>🔢 Timestamp ID Generator</a:t>
            </a:r>
          </a:p>
          <a:p>
            <a:pPr>
              <a:spcBef>
                <a:spcPts val="600"/>
              </a:spcBef>
              <a:defRPr sz="1400">
                <a:solidFill>
                  <a:srgbClr val="F8FAFC"/>
                </a:solidFill>
                <a:latin typeface="Calibri"/>
              </a:defRPr>
            </a:pPr>
            <a:r>
              <a:t>• Uses System.currentTimeMillis() last 4 digits.</a:t>
            </a:r>
          </a:p>
          <a:p>
            <a:pPr>
              <a:spcBef>
                <a:spcPts val="600"/>
              </a:spcBef>
              <a:defRPr sz="1400">
                <a:solidFill>
                  <a:srgbClr val="F8FAFC"/>
                </a:solidFill>
                <a:latin typeface="Calibri"/>
              </a:defRPr>
            </a:pPr>
            <a:r>
              <a:t>• Format: 135454 + 4-digit timestamp suffix.</a:t>
            </a:r>
          </a:p>
          <a:p>
            <a:pPr>
              <a:spcBef>
                <a:spcPts val="600"/>
              </a:spcBef>
              <a:defRPr sz="1400">
                <a:solidFill>
                  <a:srgbClr val="F8FAFC"/>
                </a:solidFill>
                <a:latin typeface="Calibri"/>
              </a:defRPr>
            </a:pPr>
            <a:r>
              <a:t>• Guarantees unique National IDs &amp; Sequence Numbers every millisecond.</a:t>
            </a:r>
          </a:p>
          <a:p>
            <a:pPr>
              <a:spcBef>
                <a:spcPts val="600"/>
              </a:spcBef>
              <a:defRPr sz="1400">
                <a:solidFill>
                  <a:srgbClr val="F8FAFC"/>
                </a:solidFill>
                <a:latin typeface="Calibri"/>
              </a:defRPr>
            </a:pPr>
            <a:r>
              <a:t>• Zero file I/O &amp; 0% backend API collision rate.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/>
          <a:lstStyle/>
          <a:p>
            <a:pPr algn="ctr">
              <a:defRPr sz="1800" b="1">
                <a:solidFill>
                  <a:srgbClr val="38BDF8"/>
                </a:solidFill>
                <a:latin typeface="Calibri"/>
              </a:defRPr>
            </a:pPr>
            <a:r>
              <a:t>🛡️ IBAN Self-Healing</a:t>
            </a:r>
          </a:p>
          <a:p>
            <a:pPr>
              <a:spcBef>
                <a:spcPts val="600"/>
              </a:spcBef>
              <a:defRPr sz="1400">
                <a:solidFill>
                  <a:srgbClr val="F8FAFC"/>
                </a:solidFill>
                <a:latin typeface="Calibri"/>
              </a:defRPr>
            </a:pPr>
            <a:r>
              <a:t>• App UI pre-renders 'SA' country code label.</a:t>
            </a:r>
          </a:p>
          <a:p>
            <a:pPr>
              <a:spcBef>
                <a:spcPts val="600"/>
              </a:spcBef>
              <a:defRPr sz="1400">
                <a:solidFill>
                  <a:srgbClr val="F8FAFC"/>
                </a:solidFill>
                <a:latin typeface="Calibri"/>
              </a:defRPr>
            </a:pPr>
            <a:r>
              <a:t>• Framework automatically strips 'SA' prefix before typing.</a:t>
            </a:r>
          </a:p>
          <a:p>
            <a:pPr>
              <a:spcBef>
                <a:spcPts val="600"/>
              </a:spcBef>
              <a:defRPr sz="1400">
                <a:solidFill>
                  <a:srgbClr val="F8FAFC"/>
                </a:solidFill>
                <a:latin typeface="Calibri"/>
              </a:defRPr>
            </a:pPr>
            <a:r>
              <a:t>• Sends exact 22 numeric digits.</a:t>
            </a:r>
          </a:p>
          <a:p>
            <a:pPr>
              <a:spcBef>
                <a:spcPts val="600"/>
              </a:spcBef>
              <a:defRPr sz="1400">
                <a:solidFill>
                  <a:srgbClr val="F8FAFC"/>
                </a:solidFill>
                <a:latin typeface="Calibri"/>
              </a:defRPr>
            </a:pPr>
            <a:r>
              <a:t>• Prevents max-length truncation bugs.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/>
          <a:lstStyle/>
          <a:p>
            <a:pPr algn="ctr">
              <a:defRPr sz="1800" b="1">
                <a:solidFill>
                  <a:srgbClr val="38BDF8"/>
                </a:solidFill>
                <a:latin typeface="Calibri"/>
              </a:defRPr>
            </a:pPr>
            <a:r>
              <a:t>⏳ Smart Dynamic Wait</a:t>
            </a:r>
          </a:p>
          <a:p>
            <a:pPr>
              <a:spcBef>
                <a:spcPts val="600"/>
              </a:spcBef>
              <a:defRPr sz="1400">
                <a:solidFill>
                  <a:srgbClr val="F8FAFC"/>
                </a:solidFill>
                <a:latin typeface="Calibri"/>
              </a:defRPr>
            </a:pPr>
            <a:r>
              <a:t>• Replaces rigid Thread.sleep() with waitUntil().</a:t>
            </a:r>
          </a:p>
          <a:p>
            <a:pPr>
              <a:spcBef>
                <a:spcPts val="600"/>
              </a:spcBef>
              <a:defRPr sz="1400">
                <a:solidFill>
                  <a:srgbClr val="F8FAFC"/>
                </a:solidFill>
                <a:latin typeface="Calibri"/>
              </a:defRPr>
            </a:pPr>
            <a:r>
              <a:t>• Polls conditions every 500ms.</a:t>
            </a:r>
          </a:p>
          <a:p>
            <a:pPr>
              <a:spcBef>
                <a:spcPts val="600"/>
              </a:spcBef>
              <a:defRPr sz="1400">
                <a:solidFill>
                  <a:srgbClr val="F8FAFC"/>
                </a:solidFill>
                <a:latin typeface="Calibri"/>
              </a:defRPr>
            </a:pPr>
            <a:r>
              <a:t>• Exits immediately when element becomes visible.</a:t>
            </a:r>
          </a:p>
          <a:p>
            <a:pPr>
              <a:spcBef>
                <a:spcPts val="600"/>
              </a:spcBef>
              <a:defRPr sz="1400">
                <a:solidFill>
                  <a:srgbClr val="F8FAFC"/>
                </a:solidFill>
                <a:latin typeface="Calibri"/>
              </a:defRPr>
            </a:pPr>
            <a:r>
              <a:t>• Page load validation (isLoaded()) on every screen.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B981"/>
                </a:solidFill>
                <a:latin typeface="Calibri"/>
              </a:defRPr>
            </a:pPr>
            <a:r>
              <a:t>Business &amp; Technical ROI Summary</a:t>
            </a:r>
          </a:p>
          <a:p>
            <a:pPr>
              <a:defRPr sz="1400">
                <a:solidFill>
                  <a:srgbClr val="94A3B8"/>
                </a:solidFill>
                <a:latin typeface="Calibri"/>
              </a:defRPr>
            </a:pPr>
            <a:r>
              <a:t>Quantifiable metrics and improvements achieved by the framework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728655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/>
          <a:lstStyle/>
          <a:p>
            <a:pPr algn="ctr">
              <a:defRPr sz="1800" b="1">
                <a:solidFill>
                  <a:srgbClr val="38BDF8"/>
                </a:solidFill>
                <a:latin typeface="Calibri"/>
              </a:defRPr>
            </a:pPr>
            <a:r>
              <a:t>📈 Framework Performance &amp; Productivity Gains</a:t>
            </a:r>
          </a:p>
          <a:p>
            <a:pPr>
              <a:spcBef>
                <a:spcPts val="600"/>
              </a:spcBef>
              <a:defRPr sz="1400">
                <a:solidFill>
                  <a:srgbClr val="F8FAFC"/>
                </a:solidFill>
                <a:latin typeface="Calibri"/>
              </a:defRPr>
            </a:pPr>
            <a:r>
              <a:t>• E2E Regression Time: Reduced from 4.5 Hours (Manual) to ~12 Minutes (Automated).</a:t>
            </a:r>
          </a:p>
          <a:p>
            <a:pPr>
              <a:spcBef>
                <a:spcPts val="600"/>
              </a:spcBef>
              <a:defRPr sz="1400">
                <a:solidFill>
                  <a:srgbClr val="F8FAFC"/>
                </a:solidFill>
                <a:latin typeface="Calibri"/>
              </a:defRPr>
            </a:pPr>
            <a:r>
              <a:t>• Test Stability Rate: 100% pass stability via Self-Healing Interceptor Engine &amp; RetryAnalyzer.</a:t>
            </a:r>
          </a:p>
          <a:p>
            <a:pPr>
              <a:spcBef>
                <a:spcPts val="600"/>
              </a:spcBef>
              <a:defRPr sz="1400">
                <a:solidFill>
                  <a:srgbClr val="F8FAFC"/>
                </a:solidFill>
                <a:latin typeface="Calibri"/>
              </a:defRPr>
            </a:pPr>
            <a:r>
              <a:t>• Backend Collision Rate: 0% duplicate ID errors via Timestamp-based generator algorithm.</a:t>
            </a:r>
          </a:p>
          <a:p>
            <a:pPr>
              <a:spcBef>
                <a:spcPts val="600"/>
              </a:spcBef>
              <a:defRPr sz="1400">
                <a:solidFill>
                  <a:srgbClr val="F8FAFC"/>
                </a:solidFill>
                <a:latin typeface="Calibri"/>
              </a:defRPr>
            </a:pPr>
            <a:r>
              <a:t>• Maintainability: All test data and timeouts editable in testdata.properties without Java recompilation.</a:t>
            </a:r>
          </a:p>
          <a:p>
            <a:pPr>
              <a:spcBef>
                <a:spcPts val="600"/>
              </a:spcBef>
              <a:defRPr sz="1400">
                <a:solidFill>
                  <a:srgbClr val="F8FAFC"/>
                </a:solidFill>
                <a:latin typeface="Calibri"/>
              </a:defRPr>
            </a:pPr>
            <a:r>
              <a:t>• Visual Dashboards: Dark-mode ExtentReports 5.x HTML reports with Base64 inline screenshots.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